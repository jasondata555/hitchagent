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6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4" r:id="rId3"/>
  </p:sldMasterIdLst>
  <p:notesMasterIdLst>
    <p:notesMasterId r:id="rId4"/>
  </p:notesMasterIdLst>
  <p:sldIdLst>
    <p:sldId id="256" r:id="rId5"/>
  </p:sldIdLst>
  <p:sldSz cy="6858000" cx="9144000"/>
  <p:notesSz cx="6985000" cy="92837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5" Type="http://schemas.openxmlformats.org/officeDocument/2006/relationships/slide" Target="slides/slide1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3026833" cy="465797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0" lvl="0" mar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956550" y="0"/>
            <a:ext cx="3026833" cy="465797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0" lvl="0" mar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1403350" y="1160463"/>
            <a:ext cx="4178300" cy="31337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98500" y="4467781"/>
            <a:ext cx="5588000" cy="3655457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817904"/>
            <a:ext cx="3026833" cy="465796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indent="0" lvl="0" mar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956550" y="8817904"/>
            <a:ext cx="3026833" cy="465796"/>
          </a:xfrm>
          <a:prstGeom prst="rect">
            <a:avLst/>
          </a:prstGeom>
          <a:noFill/>
          <a:ln>
            <a:noFill/>
          </a:ln>
        </p:spPr>
        <p:txBody>
          <a:bodyPr anchorCtr="0" anchor="b" bIns="46475" lIns="92950" spcFirstLastPara="1" rIns="92950" wrap="square" tIns="46475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g458d92de44_0_106:notes"/>
          <p:cNvSpPr txBox="1"/>
          <p:nvPr>
            <p:ph idx="1" type="body"/>
          </p:nvPr>
        </p:nvSpPr>
        <p:spPr>
          <a:xfrm>
            <a:off x="698500" y="4467781"/>
            <a:ext cx="5588100" cy="365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/>
          </a:p>
        </p:txBody>
      </p:sp>
      <p:sp>
        <p:nvSpPr>
          <p:cNvPr id="41" name="Google Shape;41;g458d92de44_0_106:notes"/>
          <p:cNvSpPr/>
          <p:nvPr>
            <p:ph idx="2" type="sldImg"/>
          </p:nvPr>
        </p:nvSpPr>
        <p:spPr>
          <a:xfrm>
            <a:off x="1403350" y="1160463"/>
            <a:ext cx="4178400" cy="3133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VER">
  <p:cSld name="COVER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2"/>
          <p:cNvSpPr txBox="1"/>
          <p:nvPr>
            <p:ph idx="12" type="sldNum"/>
          </p:nvPr>
        </p:nvSpPr>
        <p:spPr>
          <a:xfrm>
            <a:off x="8556784" y="6333134"/>
            <a:ext cx="548700" cy="5250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>
            <a:lvl1pPr lvl="0">
              <a:buNone/>
              <a:defRPr sz="1300">
                <a:solidFill>
                  <a:schemeClr val="dk1"/>
                </a:solidFill>
              </a:defRPr>
            </a:lvl1pPr>
            <a:lvl2pPr lvl="1">
              <a:buNone/>
              <a:defRPr sz="1300">
                <a:solidFill>
                  <a:schemeClr val="dk1"/>
                </a:solidFill>
              </a:defRPr>
            </a:lvl2pPr>
            <a:lvl3pPr lvl="2">
              <a:buNone/>
              <a:defRPr sz="1300">
                <a:solidFill>
                  <a:schemeClr val="dk1"/>
                </a:solidFill>
              </a:defRPr>
            </a:lvl3pPr>
            <a:lvl4pPr lvl="3">
              <a:buNone/>
              <a:defRPr sz="1300">
                <a:solidFill>
                  <a:schemeClr val="dk1"/>
                </a:solidFill>
              </a:defRPr>
            </a:lvl4pPr>
            <a:lvl5pPr lvl="4">
              <a:buNone/>
              <a:defRPr sz="1300">
                <a:solidFill>
                  <a:schemeClr val="dk1"/>
                </a:solidFill>
              </a:defRPr>
            </a:lvl5pPr>
            <a:lvl6pPr lvl="5">
              <a:buNone/>
              <a:defRPr sz="1300">
                <a:solidFill>
                  <a:schemeClr val="dk1"/>
                </a:solidFill>
              </a:defRPr>
            </a:lvl6pPr>
            <a:lvl7pPr lvl="6">
              <a:buNone/>
              <a:defRPr sz="1300">
                <a:solidFill>
                  <a:schemeClr val="dk1"/>
                </a:solidFill>
              </a:defRPr>
            </a:lvl7pPr>
            <a:lvl8pPr lvl="7">
              <a:buNone/>
              <a:defRPr sz="1300">
                <a:solidFill>
                  <a:schemeClr val="dk1"/>
                </a:solidFill>
              </a:defRPr>
            </a:lvl8pPr>
            <a:lvl9pPr lvl="8">
              <a:buNone/>
              <a:defRPr sz="1300">
                <a:solidFill>
                  <a:schemeClr val="dk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tx">
  <p:cSld name="TITLE_AND_BODY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3"/>
          <p:cNvSpPr/>
          <p:nvPr/>
        </p:nvSpPr>
        <p:spPr>
          <a:xfrm>
            <a:off x="0" y="-15875"/>
            <a:ext cx="9144000" cy="708300"/>
          </a:xfrm>
          <a:prstGeom prst="rect">
            <a:avLst/>
          </a:prstGeom>
          <a:solidFill>
            <a:srgbClr val="B7B7B7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" name="Google Shape;19;p3"/>
          <p:cNvSpPr txBox="1"/>
          <p:nvPr>
            <p:ph type="title"/>
          </p:nvPr>
        </p:nvSpPr>
        <p:spPr>
          <a:xfrm>
            <a:off x="704850" y="136526"/>
            <a:ext cx="7886700" cy="42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Verdana"/>
              <a:buNone/>
              <a:defRPr b="1" i="1" sz="30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indent="0"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indent="0"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indent="0"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indent="0"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indent="0"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indent="0"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indent="0"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indent="0"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20" name="Google Shape;20;p3"/>
          <p:cNvSpPr txBox="1"/>
          <p:nvPr>
            <p:ph idx="1" type="body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21" name="Google Shape;21;p3"/>
          <p:cNvSpPr txBox="1"/>
          <p:nvPr>
            <p:ph idx="12" type="sldNum"/>
          </p:nvPr>
        </p:nvSpPr>
        <p:spPr>
          <a:xfrm>
            <a:off x="8515350" y="6508750"/>
            <a:ext cx="5334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2" name="Google Shape;22;p3"/>
          <p:cNvSpPr/>
          <p:nvPr/>
        </p:nvSpPr>
        <p:spPr>
          <a:xfrm>
            <a:off x="0" y="6527926"/>
            <a:ext cx="9144000" cy="365100"/>
          </a:xfrm>
          <a:prstGeom prst="rect">
            <a:avLst/>
          </a:prstGeom>
          <a:solidFill>
            <a:srgbClr val="B7B7B7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 Layout 1">
  <p:cSld name="CUSTOM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4"/>
          <p:cNvSpPr txBox="1"/>
          <p:nvPr>
            <p:ph type="title"/>
          </p:nvPr>
        </p:nvSpPr>
        <p:spPr>
          <a:xfrm>
            <a:off x="628650" y="365126"/>
            <a:ext cx="7886700" cy="1325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2" type="sldNum"/>
          </p:nvPr>
        </p:nvSpPr>
        <p:spPr>
          <a:xfrm>
            <a:off x="6457950" y="6356351"/>
            <a:ext cx="2057400" cy="3651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>
            <a:lvl1pPr lvl="0">
              <a:buClr>
                <a:srgbClr val="000000"/>
              </a:buClr>
              <a:buFont typeface="Arial"/>
              <a:buNone/>
              <a:defRPr/>
            </a:lvl1pPr>
            <a:lvl2pPr lvl="1">
              <a:buClr>
                <a:srgbClr val="000000"/>
              </a:buClr>
              <a:buFont typeface="Arial"/>
              <a:buNone/>
              <a:defRPr/>
            </a:lvl2pPr>
            <a:lvl3pPr lvl="2">
              <a:buClr>
                <a:srgbClr val="000000"/>
              </a:buClr>
              <a:buFont typeface="Arial"/>
              <a:buNone/>
              <a:defRPr/>
            </a:lvl3pPr>
            <a:lvl4pPr lvl="3">
              <a:buClr>
                <a:srgbClr val="000000"/>
              </a:buClr>
              <a:buFont typeface="Arial"/>
              <a:buNone/>
              <a:defRPr/>
            </a:lvl4pPr>
            <a:lvl5pPr lvl="4">
              <a:buClr>
                <a:srgbClr val="000000"/>
              </a:buClr>
              <a:buFont typeface="Arial"/>
              <a:buNone/>
              <a:defRPr/>
            </a:lvl5pPr>
            <a:lvl6pPr lvl="5">
              <a:buClr>
                <a:srgbClr val="000000"/>
              </a:buClr>
              <a:buFont typeface="Arial"/>
              <a:buNone/>
              <a:defRPr/>
            </a:lvl6pPr>
            <a:lvl7pPr lvl="6">
              <a:buClr>
                <a:srgbClr val="000000"/>
              </a:buClr>
              <a:buFont typeface="Arial"/>
              <a:buNone/>
              <a:defRPr/>
            </a:lvl7pPr>
            <a:lvl8pPr lvl="7">
              <a:buClr>
                <a:srgbClr val="000000"/>
              </a:buClr>
              <a:buFont typeface="Arial"/>
              <a:buNone/>
              <a:defRPr/>
            </a:lvl8pPr>
            <a:lvl9pPr lvl="8">
              <a:buClr>
                <a:srgbClr val="000000"/>
              </a:buClr>
              <a:buFont typeface="Arial"/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BREAK">
  <p:cSld name="SECTION BREAK">
    <p:spTree>
      <p:nvGrpSpPr>
        <p:cNvPr id="26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5"/>
          <p:cNvSpPr txBox="1"/>
          <p:nvPr>
            <p:ph idx="1" type="body"/>
          </p:nvPr>
        </p:nvSpPr>
        <p:spPr>
          <a:xfrm>
            <a:off x="1328738" y="5108123"/>
            <a:ext cx="6486525" cy="464002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28600" lvl="0" marL="457200" marR="0" rt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262626"/>
              </a:buClr>
              <a:buSzPts val="2800"/>
              <a:buFont typeface="Arial"/>
              <a:buNone/>
              <a:defRPr b="0" i="0" sz="2000" u="none" cap="none" strike="noStrike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28" name="Google Shape;28;p5"/>
          <p:cNvSpPr txBox="1"/>
          <p:nvPr>
            <p:ph idx="2" type="body"/>
          </p:nvPr>
        </p:nvSpPr>
        <p:spPr>
          <a:xfrm>
            <a:off x="447575" y="2540000"/>
            <a:ext cx="8251257" cy="2442633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28600" lvl="0" marL="457200" marR="0" rt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262626"/>
              </a:buClr>
              <a:buSzPts val="2800"/>
              <a:buFont typeface="Arial"/>
              <a:buNone/>
              <a:defRPr b="0" i="0" sz="3200" u="none" cap="none" strike="noStrike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29" name="Google Shape;29;p5"/>
          <p:cNvSpPr/>
          <p:nvPr/>
        </p:nvSpPr>
        <p:spPr>
          <a:xfrm>
            <a:off x="3205212" y="6189264"/>
            <a:ext cx="2743201" cy="423292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www.mitchellakegroup.com</a:t>
            </a:r>
            <a:endParaRPr sz="20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" name="Google Shape;30;p5"/>
          <p:cNvSpPr txBox="1"/>
          <p:nvPr>
            <p:ph idx="12" type="sldNum"/>
          </p:nvPr>
        </p:nvSpPr>
        <p:spPr>
          <a:xfrm>
            <a:off x="8556784" y="6333134"/>
            <a:ext cx="548700" cy="5250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>
            <a:lvl1pPr lvl="0">
              <a:buNone/>
              <a:defRPr sz="1300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buNone/>
              <a:defRPr sz="1300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>
              <a:buNone/>
              <a:defRPr sz="1300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>
              <a:buNone/>
              <a:defRPr sz="1300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>
              <a:buNone/>
              <a:defRPr sz="1300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>
              <a:buNone/>
              <a:defRPr sz="1300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>
              <a:buNone/>
              <a:defRPr sz="1300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>
              <a:buNone/>
              <a:defRPr sz="1300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>
              <a:buNone/>
              <a:defRPr sz="1300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S">
  <p:cSld name="SLIDES"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6"/>
          <p:cNvSpPr txBox="1"/>
          <p:nvPr>
            <p:ph idx="1" type="body"/>
          </p:nvPr>
        </p:nvSpPr>
        <p:spPr>
          <a:xfrm>
            <a:off x="257175" y="71157"/>
            <a:ext cx="4857750" cy="771525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262626"/>
              </a:buClr>
              <a:buSzPts val="2800"/>
              <a:buFont typeface="Arial"/>
              <a:buNone/>
              <a:defRPr b="0" i="0" sz="6000" u="none" cap="none" strike="noStrike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6096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Char char="•"/>
              <a:defRPr b="0" i="0" sz="6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609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Char char="•"/>
              <a:defRPr b="0" i="0" sz="6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6096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Char char="•"/>
              <a:defRPr b="0" i="0" sz="6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6096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Char char="•"/>
              <a:defRPr b="0" i="0" sz="6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33" name="Google Shape;33;p6"/>
          <p:cNvSpPr txBox="1"/>
          <p:nvPr>
            <p:ph idx="2" type="body"/>
          </p:nvPr>
        </p:nvSpPr>
        <p:spPr>
          <a:xfrm>
            <a:off x="257175" y="858324"/>
            <a:ext cx="4206478" cy="542925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262626"/>
              </a:buClr>
              <a:buSzPts val="2800"/>
              <a:buFont typeface="Arial"/>
              <a:buNone/>
              <a:defRPr b="0" i="0" sz="1600" u="none" cap="none" strike="noStrike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302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  <a:defRPr b="0" i="0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302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  <a:defRPr b="0" i="0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302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  <a:defRPr b="0" i="0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302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  <a:defRPr b="0" i="0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34" name="Google Shape;34;p6"/>
          <p:cNvSpPr txBox="1"/>
          <p:nvPr>
            <p:ph idx="12" type="sldNum"/>
          </p:nvPr>
        </p:nvSpPr>
        <p:spPr>
          <a:xfrm>
            <a:off x="8556784" y="6333134"/>
            <a:ext cx="548700" cy="5250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>
            <a:lvl1pPr lvl="0">
              <a:buNone/>
              <a:defRPr sz="1300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buNone/>
              <a:defRPr sz="1300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>
              <a:buNone/>
              <a:defRPr sz="1300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>
              <a:buNone/>
              <a:defRPr sz="1300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>
              <a:buNone/>
              <a:defRPr sz="1300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>
              <a:buNone/>
              <a:defRPr sz="1300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>
              <a:buNone/>
              <a:defRPr sz="1300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>
              <a:buNone/>
              <a:defRPr sz="1300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>
              <a:buNone/>
              <a:defRPr sz="1300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2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750"/>
                                        <p:tgtEl>
                                          <p:spTgt spid="32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-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nodeType="withEffect" presetClass="entr" presetID="2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750"/>
                                        <p:tgtEl>
                                          <p:spTgt spid="32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-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nodeType="withEffect" presetClass="entr" presetID="2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750"/>
                                        <p:tgtEl>
                                          <p:spTgt spid="32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-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nodeType="withEffect" presetClass="entr" presetID="2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750"/>
                                        <p:tgtEl>
                                          <p:spTgt spid="32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-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nodeType="withEffect" presetClass="entr" presetID="2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750"/>
                                        <p:tgtEl>
                                          <p:spTgt spid="32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-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nodeType="withEffect" presetClass="entr" presetID="2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750"/>
                                        <p:tgtEl>
                                          <p:spTgt spid="32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-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nodeType="withEffect" presetClass="entr" presetID="2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750"/>
                                        <p:tgtEl>
                                          <p:spTgt spid="32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-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nodeType="withEffect" presetClass="entr" presetID="2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750"/>
                                        <p:tgtEl>
                                          <p:spTgt spid="32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-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nodeType="withEffect" presetClass="entr" presetID="2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>
                                            <p:txEl>
                                              <p:pRg end="8" st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750"/>
                                        <p:tgtEl>
                                          <p:spTgt spid="32">
                                            <p:txEl>
                                              <p:pRg end="8" st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-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75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3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25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3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75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3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225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3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275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3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325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3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375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3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425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3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475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>
                                            <p:txEl>
                                              <p:pRg end="8" st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3">
                                            <p:txEl>
                                              <p:pRg end="8" st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EDIA">
  <p:cSld name="MEDIA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7"/>
          <p:cNvSpPr txBox="1"/>
          <p:nvPr>
            <p:ph idx="1" type="body"/>
          </p:nvPr>
        </p:nvSpPr>
        <p:spPr>
          <a:xfrm>
            <a:off x="257175" y="71157"/>
            <a:ext cx="4857750" cy="771525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262626"/>
              </a:buClr>
              <a:buSzPts val="2800"/>
              <a:buFont typeface="Arial"/>
              <a:buNone/>
              <a:defRPr b="0" i="0" sz="6000" u="none" cap="none" strike="noStrike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6096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Char char="•"/>
              <a:defRPr b="0" i="0" sz="6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609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Char char="•"/>
              <a:defRPr b="0" i="0" sz="6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6096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Char char="•"/>
              <a:defRPr b="0" i="0" sz="6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6096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Char char="•"/>
              <a:defRPr b="0" i="0" sz="6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37" name="Google Shape;37;p7"/>
          <p:cNvSpPr/>
          <p:nvPr>
            <p:ph idx="2" type="media"/>
          </p:nvPr>
        </p:nvSpPr>
        <p:spPr>
          <a:xfrm>
            <a:off x="270818" y="1408293"/>
            <a:ext cx="6193430" cy="4607266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/>
            </a:lvl1pPr>
          </a:lstStyle>
          <a:p/>
        </p:txBody>
      </p:sp>
      <p:sp>
        <p:nvSpPr>
          <p:cNvPr id="38" name="Google Shape;38;p7"/>
          <p:cNvSpPr txBox="1"/>
          <p:nvPr>
            <p:ph idx="12" type="sldNum"/>
          </p:nvPr>
        </p:nvSpPr>
        <p:spPr>
          <a:xfrm>
            <a:off x="8556784" y="6333134"/>
            <a:ext cx="548700" cy="5250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>
            <a:lvl1pPr lvl="0">
              <a:buNone/>
              <a:defRPr sz="1300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buNone/>
              <a:defRPr sz="1300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>
              <a:buNone/>
              <a:defRPr sz="1300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>
              <a:buNone/>
              <a:defRPr sz="1300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>
              <a:buNone/>
              <a:defRPr sz="1300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>
              <a:buNone/>
              <a:defRPr sz="1300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>
              <a:buNone/>
              <a:defRPr sz="1300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>
              <a:buNone/>
              <a:defRPr sz="1300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>
              <a:buNone/>
              <a:defRPr sz="1300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2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750"/>
                                        <p:tgtEl>
                                          <p:spTgt spid="36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-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nodeType="withEffect" presetClass="entr" presetID="2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750"/>
                                        <p:tgtEl>
                                          <p:spTgt spid="36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-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nodeType="withEffect" presetClass="entr" presetID="2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750"/>
                                        <p:tgtEl>
                                          <p:spTgt spid="36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-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nodeType="withEffect" presetClass="entr" presetID="2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750"/>
                                        <p:tgtEl>
                                          <p:spTgt spid="36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-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nodeType="withEffect" presetClass="entr" presetID="2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750"/>
                                        <p:tgtEl>
                                          <p:spTgt spid="36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-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nodeType="withEffect" presetClass="entr" presetID="2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750"/>
                                        <p:tgtEl>
                                          <p:spTgt spid="36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-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nodeType="withEffect" presetClass="entr" presetID="2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750"/>
                                        <p:tgtEl>
                                          <p:spTgt spid="36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-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nodeType="withEffect" presetClass="entr" presetID="2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750"/>
                                        <p:tgtEl>
                                          <p:spTgt spid="36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-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nodeType="withEffect" presetClass="entr" presetID="2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>
                                            <p:txEl>
                                              <p:pRg end="8" st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750"/>
                                        <p:tgtEl>
                                          <p:spTgt spid="36">
                                            <p:txEl>
                                              <p:pRg end="8" st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-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"/>
          <p:cNvSpPr txBox="1"/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indent="0"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indent="0"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indent="0"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indent="0"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indent="0"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indent="0"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indent="0"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1" name="Google Shape;11;p1"/>
          <p:cNvSpPr txBox="1"/>
          <p:nvPr>
            <p:ph idx="1" type="body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2" name="Google Shape;12;p1"/>
          <p:cNvSpPr txBox="1"/>
          <p:nvPr>
            <p:ph idx="10" type="dt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3" name="Google Shape;13;p1"/>
          <p:cNvSpPr txBox="1"/>
          <p:nvPr>
            <p:ph idx="11" type="ftr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4" name="Google Shape;14;p1"/>
          <p:cNvSpPr txBox="1"/>
          <p:nvPr>
            <p:ph idx="12" type="sldNum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Relationship Id="rId3" Type="http://schemas.openxmlformats.org/officeDocument/2006/relationships/hyperlink" Target="https://www.linkedin.com/in/balasathiamurthy/" TargetMode="External"/><Relationship Id="rId4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2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8"/>
          <p:cNvSpPr txBox="1"/>
          <p:nvPr/>
        </p:nvSpPr>
        <p:spPr>
          <a:xfrm>
            <a:off x="2295800" y="716850"/>
            <a:ext cx="6797100" cy="5670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300">
                <a:solidFill>
                  <a:schemeClr val="dk1"/>
                </a:solidFill>
              </a:rPr>
              <a:t>✅ </a:t>
            </a:r>
            <a:r>
              <a:rPr b="1" lang="en-US" sz="1300" u="sng">
                <a:solidFill>
                  <a:schemeClr val="dk1"/>
                </a:solidFill>
              </a:rPr>
              <a:t>REASONS TO CONSIDER / RELEVANT SECURITY DOMAIN EXPERTISE  </a:t>
            </a:r>
            <a:endParaRPr b="1" sz="1200" u="sng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000">
                <a:solidFill>
                  <a:schemeClr val="dk1"/>
                </a:solidFill>
              </a:rPr>
              <a:t>IVP (2024 - Present): </a:t>
            </a:r>
            <a:r>
              <a:rPr lang="en-US" sz="1000">
                <a:solidFill>
                  <a:schemeClr val="dk1"/>
                </a:solidFill>
              </a:rPr>
              <a:t>Operating Partner &amp; CISO</a:t>
            </a:r>
            <a:endParaRPr sz="10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0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000">
                <a:solidFill>
                  <a:schemeClr val="dk1"/>
                </a:solidFill>
              </a:rPr>
              <a:t>Atlassian: </a:t>
            </a:r>
            <a:r>
              <a:rPr b="1" lang="en-US" sz="1000">
                <a:solidFill>
                  <a:schemeClr val="dk1"/>
                </a:solidFill>
              </a:rPr>
              <a:t>(2022 - Dec 2024): </a:t>
            </a:r>
            <a:r>
              <a:rPr lang="en-US" sz="1000">
                <a:solidFill>
                  <a:schemeClr val="dk1"/>
                </a:solidFill>
              </a:rPr>
              <a:t>NASDAQ: TEAM; Rev $4.4 Bil  ~12K Emp</a:t>
            </a:r>
            <a:endParaRPr sz="1000">
              <a:solidFill>
                <a:schemeClr val="dk1"/>
              </a:solidFill>
            </a:endParaRPr>
          </a:p>
          <a:p>
            <a:pPr indent="-2921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●"/>
            </a:pPr>
            <a:r>
              <a:rPr b="1" lang="en-US" sz="1000">
                <a:solidFill>
                  <a:schemeClr val="dk1"/>
                </a:solidFill>
              </a:rPr>
              <a:t>Role: CISO || Scope: </a:t>
            </a:r>
            <a:r>
              <a:rPr lang="en-US" sz="1000">
                <a:solidFill>
                  <a:schemeClr val="dk1"/>
                </a:solidFill>
              </a:rPr>
              <a:t>Led team of 100+ responsible for comprehensive security program covering all facets including: ProdSec, AppSec, Corp Sec, IR, Threat Intel / Detection, PenTest, bug bounty &amp; IT. Reported BoD - audit committee</a:t>
            </a:r>
            <a:endParaRPr sz="1000">
              <a:solidFill>
                <a:schemeClr val="dk1"/>
              </a:solidFill>
            </a:endParaRPr>
          </a:p>
          <a:p>
            <a:pPr indent="-2921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●"/>
            </a:pPr>
            <a:r>
              <a:rPr b="1" lang="en-US" sz="1000">
                <a:solidFill>
                  <a:schemeClr val="dk1"/>
                </a:solidFill>
              </a:rPr>
              <a:t>Accomplishments:</a:t>
            </a:r>
            <a:r>
              <a:rPr lang="en-US" sz="1000">
                <a:solidFill>
                  <a:schemeClr val="dk1"/>
                </a:solidFill>
              </a:rPr>
              <a:t> </a:t>
            </a:r>
            <a:endParaRPr sz="1000">
              <a:solidFill>
                <a:schemeClr val="dk1"/>
              </a:solidFill>
            </a:endParaRPr>
          </a:p>
          <a:p>
            <a:pPr indent="-2921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○"/>
            </a:pPr>
            <a:r>
              <a:rPr lang="en-US" sz="1000">
                <a:solidFill>
                  <a:schemeClr val="dk1"/>
                </a:solidFill>
              </a:rPr>
              <a:t>Extensive customer enablement exposure to F50 &amp; Gov customers (DoD, NSA, FBI, CIA etc)</a:t>
            </a:r>
            <a:endParaRPr sz="1000">
              <a:solidFill>
                <a:schemeClr val="dk1"/>
              </a:solidFill>
            </a:endParaRPr>
          </a:p>
          <a:p>
            <a:pPr indent="-2921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○"/>
            </a:pPr>
            <a:r>
              <a:rPr lang="en-US" sz="1000">
                <a:solidFill>
                  <a:schemeClr val="dk1"/>
                </a:solidFill>
              </a:rPr>
              <a:t>Integrated security for 7 acq</a:t>
            </a:r>
            <a:endParaRPr sz="10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0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000">
                <a:solidFill>
                  <a:schemeClr val="dk1"/>
                </a:solidFill>
              </a:rPr>
              <a:t>NerdWallet (2016-2022): </a:t>
            </a:r>
            <a:r>
              <a:rPr lang="en-US" sz="1000">
                <a:solidFill>
                  <a:schemeClr val="dk1"/>
                </a:solidFill>
              </a:rPr>
              <a:t>(NASDAQ: NRDS), $7</a:t>
            </a:r>
            <a:r>
              <a:rPr lang="en-US" sz="1000">
                <a:solidFill>
                  <a:schemeClr val="dk1"/>
                </a:solidFill>
              </a:rPr>
              <a:t>00M+ revenue, ~720 </a:t>
            </a:r>
            <a:r>
              <a:rPr lang="en-US" sz="1000">
                <a:solidFill>
                  <a:schemeClr val="dk1"/>
                </a:solidFill>
              </a:rPr>
              <a:t>employees; </a:t>
            </a:r>
            <a:endParaRPr sz="1000">
              <a:solidFill>
                <a:schemeClr val="dk1"/>
              </a:solidFill>
            </a:endParaRPr>
          </a:p>
          <a:p>
            <a:pPr indent="-292100" lvl="0" marL="457200" rtl="0" algn="l">
              <a:spcBef>
                <a:spcPts val="0"/>
              </a:spcBef>
              <a:spcAft>
                <a:spcPts val="0"/>
              </a:spcAft>
              <a:buSzPts val="1000"/>
              <a:buChar char="●"/>
            </a:pPr>
            <a:r>
              <a:rPr b="1" lang="en-US" sz="1000">
                <a:solidFill>
                  <a:schemeClr val="dk1"/>
                </a:solidFill>
              </a:rPr>
              <a:t>Role: CISO || Scope: Led team of 100+ including:</a:t>
            </a:r>
            <a:r>
              <a:rPr lang="en-US" sz="1000">
                <a:solidFill>
                  <a:schemeClr val="dk1"/>
                </a:solidFill>
              </a:rPr>
              <a:t> </a:t>
            </a:r>
            <a:r>
              <a:rPr lang="en-US" sz="1000">
                <a:solidFill>
                  <a:srgbClr val="111111"/>
                </a:solidFill>
                <a:highlight>
                  <a:schemeClr val="lt1"/>
                </a:highlight>
              </a:rPr>
              <a:t>Compliance, InfoSec, AppSec, Product Eng, Infrastructure Eng, ProdSec &amp; Corporate IT, Data Eng &amp; Platform Eng (reported to CTO) </a:t>
            </a:r>
            <a:endParaRPr sz="1000">
              <a:solidFill>
                <a:schemeClr val="dk1"/>
              </a:solidFill>
            </a:endParaRPr>
          </a:p>
          <a:p>
            <a:pPr indent="-2921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●"/>
            </a:pPr>
            <a:r>
              <a:rPr b="1" lang="en-US" sz="1000">
                <a:solidFill>
                  <a:schemeClr val="dk1"/>
                </a:solidFill>
              </a:rPr>
              <a:t>Accomplishments:</a:t>
            </a:r>
            <a:r>
              <a:rPr lang="en-US" sz="1000">
                <a:solidFill>
                  <a:schemeClr val="dk1"/>
                </a:solidFill>
              </a:rPr>
              <a:t> </a:t>
            </a:r>
            <a:endParaRPr sz="1000">
              <a:solidFill>
                <a:schemeClr val="dk1"/>
              </a:solidFill>
            </a:endParaRPr>
          </a:p>
          <a:p>
            <a:pPr indent="-2921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○"/>
            </a:pPr>
            <a:r>
              <a:rPr lang="en-US" sz="1000">
                <a:solidFill>
                  <a:schemeClr val="dk1"/>
                </a:solidFill>
              </a:rPr>
              <a:t>Built Security Org &amp; Team from 0 to 25; Integrated security for 2 acq</a:t>
            </a:r>
            <a:endParaRPr sz="1000">
              <a:solidFill>
                <a:schemeClr val="dk1"/>
              </a:solidFill>
            </a:endParaRPr>
          </a:p>
          <a:p>
            <a:pPr indent="-2921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○"/>
            </a:pPr>
            <a:r>
              <a:rPr lang="en-US" sz="1000">
                <a:solidFill>
                  <a:schemeClr val="dk1"/>
                </a:solidFill>
              </a:rPr>
              <a:t>Extensive customer enablement; Supported scale &amp; IPO process</a:t>
            </a:r>
            <a:endParaRPr sz="10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0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000">
                <a:solidFill>
                  <a:schemeClr val="dk1"/>
                </a:solidFill>
              </a:rPr>
              <a:t>Helix </a:t>
            </a:r>
            <a:r>
              <a:rPr b="1" lang="en-US" sz="1000">
                <a:solidFill>
                  <a:schemeClr val="dk1"/>
                </a:solidFill>
              </a:rPr>
              <a:t>(2016-2018): </a:t>
            </a:r>
            <a:endParaRPr b="1" sz="1000">
              <a:solidFill>
                <a:schemeClr val="dk1"/>
              </a:solidFill>
            </a:endParaRPr>
          </a:p>
          <a:p>
            <a:pPr indent="-2921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●"/>
            </a:pPr>
            <a:r>
              <a:rPr b="1" lang="en-US" sz="1000">
                <a:solidFill>
                  <a:schemeClr val="dk1"/>
                </a:solidFill>
              </a:rPr>
              <a:t>Role: CISO || Scope: </a:t>
            </a:r>
            <a:r>
              <a:rPr lang="en-US" sz="1000">
                <a:solidFill>
                  <a:schemeClr val="dk1"/>
                </a:solidFill>
              </a:rPr>
              <a:t>Technical Advisor/Security Consultant; Helped to build Helix’s security team, defined security strategy &amp;  projects, as well as design &amp; architecture review,  Reported to CTO &amp; VP Engineering. </a:t>
            </a:r>
            <a:endParaRPr sz="10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0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000">
                <a:solidFill>
                  <a:schemeClr val="dk1"/>
                </a:solidFill>
              </a:rPr>
              <a:t>Jive Software </a:t>
            </a:r>
            <a:r>
              <a:rPr b="1" lang="en-US" sz="1000">
                <a:solidFill>
                  <a:schemeClr val="dk1"/>
                </a:solidFill>
              </a:rPr>
              <a:t>(2013-2015): </a:t>
            </a:r>
            <a:endParaRPr b="1" sz="1000">
              <a:solidFill>
                <a:schemeClr val="dk1"/>
              </a:solidFill>
            </a:endParaRPr>
          </a:p>
          <a:p>
            <a:pPr indent="-2921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●"/>
            </a:pPr>
            <a:r>
              <a:rPr b="1" lang="en-US" sz="1000">
                <a:solidFill>
                  <a:schemeClr val="dk1"/>
                </a:solidFill>
              </a:rPr>
              <a:t>Role: Director of Security || Scope:</a:t>
            </a:r>
            <a:r>
              <a:rPr lang="en-US" sz="1000">
                <a:solidFill>
                  <a:schemeClr val="dk1"/>
                </a:solidFill>
              </a:rPr>
              <a:t> Owned AppSec (DLC, Threat Modeling, Static/Dynamic security testing, Vulnerability management and SOC) and Compliance/Sales Enablement. </a:t>
            </a:r>
            <a:r>
              <a:rPr i="1" lang="en-US" sz="1000">
                <a:solidFill>
                  <a:schemeClr val="dk1"/>
                </a:solidFill>
              </a:rPr>
              <a:t>Majority of customers were On-Prem</a:t>
            </a:r>
            <a:endParaRPr i="1" sz="10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0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000">
                <a:solidFill>
                  <a:schemeClr val="dk1"/>
                </a:solidFill>
              </a:rPr>
              <a:t>FourSquare </a:t>
            </a:r>
            <a:r>
              <a:rPr b="1" lang="en-US" sz="1000">
                <a:solidFill>
                  <a:schemeClr val="dk1"/>
                </a:solidFill>
              </a:rPr>
              <a:t>(2012-2013): </a:t>
            </a:r>
            <a:r>
              <a:rPr b="1" lang="en-US" sz="1000">
                <a:solidFill>
                  <a:schemeClr val="dk1"/>
                </a:solidFill>
              </a:rPr>
              <a:t>Director of Security</a:t>
            </a:r>
            <a:r>
              <a:rPr lang="en-US" sz="1000">
                <a:solidFill>
                  <a:schemeClr val="dk1"/>
                </a:solidFill>
              </a:rPr>
              <a:t> </a:t>
            </a:r>
            <a:endParaRPr sz="10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0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000">
                <a:solidFill>
                  <a:schemeClr val="dk1"/>
                </a:solidFill>
              </a:rPr>
              <a:t>Yahoo! (2001-2012); Director of Security</a:t>
            </a:r>
            <a:r>
              <a:rPr lang="en-US" sz="1000">
                <a:solidFill>
                  <a:schemeClr val="dk1"/>
                </a:solidFill>
              </a:rPr>
              <a:t>; Reported to the CISO; Led the AppSec/ProdSec program; Built the security program for Social &amp; Open apps platforms division.  </a:t>
            </a:r>
            <a:r>
              <a:rPr lang="en-US" sz="1000">
                <a:solidFill>
                  <a:schemeClr val="dk1"/>
                </a:solidFill>
                <a:highlight>
                  <a:srgbClr val="FFFFFF"/>
                </a:highlight>
              </a:rPr>
              <a:t>Responsible for overall system security, review of design/ architecture &amp; conducting formal reviews. </a:t>
            </a:r>
            <a:endParaRPr b="1" sz="1500" u="sng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500" u="sng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 u="sng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ANTICIPATED </a:t>
            </a:r>
            <a:r>
              <a:rPr b="1" lang="en-US" sz="1200" u="sng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CONCERNS: </a:t>
            </a:r>
            <a:endParaRPr b="1" sz="1200" u="sng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chemeClr val="dk1"/>
                </a:solidFill>
                <a:highlight>
                  <a:schemeClr val="lt1"/>
                </a:highlight>
              </a:rPr>
              <a:t>Actively considering opportunities; May be in competitive situation as we get through the search process. Need to ensure Bala is technical enough to have architecture level input. </a:t>
            </a:r>
            <a:endParaRPr sz="1100">
              <a:solidFill>
                <a:schemeClr val="dk1"/>
              </a:solidFill>
              <a:highlight>
                <a:schemeClr val="lt1"/>
              </a:highlight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highlight>
                <a:srgbClr val="FFFFFF"/>
              </a:highlight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" name="Google Shape;44;p8"/>
          <p:cNvSpPr txBox="1"/>
          <p:nvPr>
            <p:ph idx="12" type="sldNum"/>
          </p:nvPr>
        </p:nvSpPr>
        <p:spPr>
          <a:xfrm>
            <a:off x="6991350" y="6584951"/>
            <a:ext cx="2057400" cy="3651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45" name="Google Shape;45;p8"/>
          <p:cNvSpPr txBox="1"/>
          <p:nvPr>
            <p:ph type="title"/>
          </p:nvPr>
        </p:nvSpPr>
        <p:spPr>
          <a:xfrm>
            <a:off x="0" y="48250"/>
            <a:ext cx="8185500" cy="634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Calibri"/>
              <a:buNone/>
            </a:pPr>
            <a:r>
              <a:rPr i="0" lang="en-US" sz="2400">
                <a:latin typeface="Arial"/>
                <a:ea typeface="Arial"/>
                <a:cs typeface="Arial"/>
                <a:sym typeface="Arial"/>
              </a:rPr>
              <a:t>Candidate Name</a:t>
            </a:r>
            <a:r>
              <a:rPr i="0" lang="en-US">
                <a:latin typeface="Arial"/>
                <a:ea typeface="Arial"/>
                <a:cs typeface="Arial"/>
                <a:sym typeface="Arial"/>
              </a:rPr>
              <a:t>        </a:t>
            </a:r>
            <a:r>
              <a:rPr i="0" lang="en-US" sz="1600">
                <a:latin typeface="Arial"/>
                <a:ea typeface="Arial"/>
                <a:cs typeface="Arial"/>
                <a:sym typeface="Arial"/>
              </a:rPr>
              <a:t>Company</a:t>
            </a:r>
            <a:r>
              <a:rPr i="0" lang="en-US" sz="2600">
                <a:latin typeface="Arial"/>
                <a:ea typeface="Arial"/>
                <a:cs typeface="Arial"/>
                <a:sym typeface="Arial"/>
              </a:rPr>
              <a:t> - </a:t>
            </a:r>
            <a:r>
              <a:rPr i="0" lang="en-US" sz="1600">
                <a:latin typeface="Arial"/>
                <a:ea typeface="Arial"/>
                <a:cs typeface="Arial"/>
                <a:sym typeface="Arial"/>
              </a:rPr>
              <a:t>Title</a:t>
            </a:r>
            <a:r>
              <a:rPr i="0" lang="en-US" sz="2000">
                <a:latin typeface="Arial"/>
                <a:ea typeface="Arial"/>
                <a:cs typeface="Arial"/>
                <a:sym typeface="Arial"/>
              </a:rPr>
              <a:t> </a:t>
            </a:r>
            <a:r>
              <a:rPr i="0" lang="en-US">
                <a:latin typeface="Arial"/>
                <a:ea typeface="Arial"/>
                <a:cs typeface="Arial"/>
                <a:sym typeface="Arial"/>
              </a:rPr>
              <a:t> </a:t>
            </a:r>
            <a:endParaRPr b="1" i="0" sz="3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" name="Google Shape;46;p8"/>
          <p:cNvSpPr/>
          <p:nvPr/>
        </p:nvSpPr>
        <p:spPr>
          <a:xfrm>
            <a:off x="0" y="2900900"/>
            <a:ext cx="2196600" cy="36081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" name="Google Shape;47;p8"/>
          <p:cNvSpPr txBox="1"/>
          <p:nvPr/>
        </p:nvSpPr>
        <p:spPr>
          <a:xfrm>
            <a:off x="0" y="2922525"/>
            <a:ext cx="2196600" cy="358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050" u="sng">
                <a:solidFill>
                  <a:schemeClr val="hlink"/>
                </a:solidFill>
                <a:hlinkClick r:id="rId3"/>
              </a:rPr>
              <a:t>LinkedIn Bio</a:t>
            </a:r>
            <a:endParaRPr b="1" sz="105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05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050"/>
              <a:t>Situation:</a:t>
            </a:r>
            <a:endParaRPr b="1" sz="105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050">
                <a:solidFill>
                  <a:schemeClr val="dk1"/>
                </a:solidFill>
              </a:rPr>
              <a:t>Left Atlassian Dec 24; Operating partner at IVP while actively exploring new opportunities.</a:t>
            </a:r>
            <a:endParaRPr sz="105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05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050"/>
              <a:t>Location:</a:t>
            </a:r>
            <a:r>
              <a:rPr lang="en-US" sz="1050"/>
              <a:t> Bay Area</a:t>
            </a:r>
            <a:endParaRPr sz="105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05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050"/>
              <a:t>Contact Info:</a:t>
            </a:r>
            <a:endParaRPr b="1" sz="105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/>
              <a:t>Phone Number</a:t>
            </a:r>
            <a:endParaRPr sz="105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/>
              <a:t>Email</a:t>
            </a:r>
            <a:endParaRPr sz="105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5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050"/>
              <a:t>Education:</a:t>
            </a:r>
            <a:endParaRPr b="1" sz="1050"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050">
                <a:solidFill>
                  <a:schemeClr val="dk1"/>
                </a:solidFill>
              </a:rPr>
              <a:t>BS - Computer Engineering, Delhi Institute of Technology</a:t>
            </a:r>
            <a:endParaRPr sz="1050"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05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050">
                <a:solidFill>
                  <a:schemeClr val="dk1"/>
                </a:solidFill>
              </a:rPr>
              <a:t>Reference: </a:t>
            </a:r>
            <a:endParaRPr b="1" sz="1050">
              <a:solidFill>
                <a:schemeClr val="dk1"/>
              </a:solidFill>
            </a:endParaRPr>
          </a:p>
        </p:txBody>
      </p:sp>
      <p:pic>
        <p:nvPicPr>
          <p:cNvPr id="48" name="Google Shape;48;p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099650" y="18554"/>
            <a:ext cx="1993188" cy="634500"/>
          </a:xfrm>
          <a:prstGeom prst="rect">
            <a:avLst/>
          </a:prstGeom>
          <a:noFill/>
          <a:ln>
            <a:noFill/>
          </a:ln>
        </p:spPr>
      </p:pic>
      <p:sp>
        <p:nvSpPr>
          <p:cNvPr id="49" name="Google Shape;49;p8"/>
          <p:cNvSpPr txBox="1"/>
          <p:nvPr/>
        </p:nvSpPr>
        <p:spPr>
          <a:xfrm>
            <a:off x="2879599" y="6554475"/>
            <a:ext cx="33708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-US" sz="10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Confidential &amp; Proprietary</a:t>
            </a:r>
            <a:endParaRPr b="1" i="1" sz="10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50" name="Google Shape;50;p8"/>
          <p:cNvSpPr txBox="1"/>
          <p:nvPr/>
        </p:nvSpPr>
        <p:spPr>
          <a:xfrm>
            <a:off x="49350" y="789400"/>
            <a:ext cx="2147400" cy="1974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Profile Picture</a:t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